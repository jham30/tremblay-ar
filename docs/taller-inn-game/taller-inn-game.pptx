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Buenas tardes. Somos The Tremblay Chronicles, un juego de realidad aumentada para niños. En los próximos 15 minutos les cuento por qué lo diseñamos así y cómo funciona. Después lo juegan ustedes. La idea central cabe en una frase: el aprendizaje es la consecuencia del juego.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Partimos de dos hechos, y cada uno tiene respaldo en la literatura.
PRIMERO, las pantallas. El jugador llega a ellas muy pronto: en Estados Unidos, el 58 % de los niños de 4 años ya tiene tablet propia (Common Sense, 2025). En Colombia, una encuesta de Kaspersky ubica el primer dispositivo entre los 8 y 9 años para el 31 % de los menores (dato de industria). Muchas escuelas respondieron regulando el celular. La evidencia sobre esa respuesta es mixta: Beland y Murphy vieron mejoras en estudiantes de bajo rendimiento en Inglaterra, Kessel no vio efecto en Suecia, y Goodyear y colegas (2025) mostraron que prohibir en la escuela por sí solo no bastó para el bienestar. Las revisiones recientes indican que el contenido y la compañía de un adulto pesan más que los minutos. De ahí nuestra decisión: aprovechar ese tiempo de pantalla con una actividad edificante, y diseñarla para jugarse acompañado.
SEGUNDO, aprender y divertirse. Wouters y colegas (2013), con un metaanálisis de decenas de estudios, encontraron que los serious games enseñan algo más que la instrucción convencional, pero no motivan más. Habgood y Ainsworth (2011) probaron con niños de 7 a 11 años que cuando la mecánica del juego es el contenido, el jugador aprende más y juega unas siete veces más tiempo por elección. Esa es la integración que buscamos. La muestra de ese estudio es pequeña, así que la presentamos como señal y no como prueba.
Advertencia para el público: la idea de que muchos juegos educativos separan el aprendizaje de la diversión es nuestra lectura del mercado, no un dato medido. No encontramos estudios que midan que a los adultos les gustan y a los niños no.
Pregunta para el público (30 segundos): ¿cuántos han visto a un niño abandonar un juego educativo a los cinco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Nuestra apuesta fue diseñar un juego divertido primero. Hicimos un sistema de mecánicas pensado desde lo pedagógico, integrado de manera que el jugador no sienta que estudia. El aprendizaje aparece como consecuencia de jugar.
Creemos que muchos juegos educativos separan el aprendizaje de la diversión. Es nuestra lectura del mercado. Nuestra hipótesis: un juego que divierte gana la atención del jugador por sí mismo, y esa atención hace posible el aprendizaje. Los juegos serios funcionan mejor con varias sesiones y en grupo (Wouters y otros, 2013), por eso lo presentamos como prototipo en validación y hoy queremos su mirada.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juego se apoya en tres mecánicas.
ENCONTRAR. La realidad aumentada llama la atención del jugador. Escanea una imagen y aparece un objeto que puede recoger y guardar en su inventario. Genera asombro y satisfacción.
DESCIFRAR. El jugador arrastra el objeto hasta su espacio. Arrastrar y soltar es un gesto intuitivo, así que acompaña la intención del jugador. El reto está en reconocer y reanalizar los targets para decidir qué objeto corresponde a cada socket. Al lograrlo se desbloquea un fragmento de la historia.
COMPLETAR. La misión pide algo como poner la vela en el farol. El jugador no sabe bien qué pide, así que tiene que desplazarse y reconocer los objetos. Al completarla, una animación muestra la acción y refuerza el verbo. Luego llega otro fragmento de historia.
Muestra del idioma: el jugador ve el sustantivo en el idioma meta y la animación le enseña el verbo, sin que nadie se lo explique.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 gira en un bucle: historia, mecánica, recompensa, más historia.
La historia abre la puerta a la inmersión con un personaje y una situación claras. Cada fragmento nuevo se gana con misiones descifradas y completadas. Con el tiempo el espacio entre fragmentos se alarga, así que el jugador necesita cada vez más misiones. Los objetos se repiten en varias misiones, y así el jugador recuerda los sustantivos por repetición.
Decisiones éticas, y aquí cito la literatura sobre enganche: usamos metas cercanas, feedback inmediato, narrativa y coleccionismo con sentido. Decidimos dejar fuera el azar de tipo loot box, las rachas diarias, la escasez y los avisos de retención. Nuestro criterio: la mecánica sirve al aprendizaje y al bienestar del niño, y el jugador puede dejar de jugar sin penalización.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Ahora van a vivirlo. En la sala hay imágenes repartidas. Les muestro el tutorial en el proyector, unos 7 minutos, y después juegan 30 minutos. Al final cerramos con una reflexión corta y una encuesta con un detalle de agradecimiento.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SCURA">
    <p:bg>
      <p:bgPr>
        <a:solidFill>
          <a:srgbClr val="241638"/>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LARA">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8046720" cy="822960"/>
          </a:xfrm>
          <a:prstGeom prst="rect">
            <a:avLst/>
          </a:prstGeom>
          <a:noFill/>
          <a:ln/>
        </p:spPr>
        <p:txBody>
          <a:bodyPr wrap="square" rtlCol="0"/>
          <a:lstStyle>
            <a:lvl1pPr algn="l" indent="0" marL="0">
              <a:buNone/>
              <a:defRPr lang="en-US" sz="3200" b="1" dirty="0">
                <a:solidFill>
                  <a:srgbClr val="241638"/>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C6B7A"/>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Evento"/>
          <p:cNvSpPr txBox="1"/>
          <p:nvPr/>
        </p:nvSpPr>
        <p:spPr>
          <a:xfrm>
            <a:off x="548640" y="640080"/>
            <a:ext cx="8046720" cy="365760"/>
          </a:xfrm>
          <a:prstGeom prst="rect">
            <a:avLst/>
          </a:prstGeom>
          <a:noFill/>
          <a:ln/>
        </p:spPr>
        <p:txBody>
          <a:bodyPr wrap="square" lIns="0" tIns="0" rIns="0" bIns="0" rtlCol="0" anchor="ctr"/>
          <a:lstStyle/>
          <a:p>
            <a:pPr indent="0" marL="0">
              <a:buNone/>
            </a:pPr>
            <a:r>
              <a:rPr lang="en-US" sz="1400" b="1" dirty="0">
                <a:solidFill>
                  <a:srgbClr val="F4B942"/>
                </a:solidFill>
                <a:latin typeface="Calibri" pitchFamily="34" charset="0"/>
                <a:ea typeface="Calibri" pitchFamily="34" charset="-122"/>
                <a:cs typeface="Calibri" pitchFamily="34" charset="-120"/>
              </a:rPr>
              <a:t>INN-GAME 2026 · Experiencias de juego</a:t>
            </a:r>
            <a:endParaRPr lang="en-US" sz="1400" dirty="0"/>
          </a:p>
        </p:txBody>
      </p:sp>
      <p:sp>
        <p:nvSpPr>
          <p:cNvPr id="4" name="Titulo"/>
          <p:cNvSpPr txBox="1"/>
          <p:nvPr/>
        </p:nvSpPr>
        <p:spPr>
          <a:xfrm>
            <a:off x="548640" y="1371600"/>
            <a:ext cx="8046720" cy="9144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The Tremblay Chronicles</a:t>
            </a:r>
            <a:endParaRPr lang="en-US" sz="4400" dirty="0"/>
          </a:p>
        </p:txBody>
      </p:sp>
      <p:sp>
        <p:nvSpPr>
          <p:cNvPr id="5" name="Lema"/>
          <p:cNvSpPr txBox="1"/>
          <p:nvPr/>
        </p:nvSpPr>
        <p:spPr>
          <a:xfrm>
            <a:off x="548640" y="2377440"/>
            <a:ext cx="8046720" cy="640080"/>
          </a:xfrm>
          <a:prstGeom prst="rect">
            <a:avLst/>
          </a:prstGeom>
          <a:noFill/>
          <a:ln/>
        </p:spPr>
        <p:txBody>
          <a:bodyPr wrap="square" lIns="0" tIns="0" rIns="0" bIns="0" rtlCol="0" anchor="ctr"/>
          <a:lstStyle/>
          <a:p>
            <a:pPr indent="0" marL="0">
              <a:buNone/>
            </a:pPr>
            <a:r>
              <a:rPr lang="en-US" sz="2400" i="1" dirty="0">
                <a:solidFill>
                  <a:srgbClr val="E8731A"/>
                </a:solidFill>
                <a:latin typeface="Cambria" pitchFamily="34" charset="0"/>
                <a:ea typeface="Cambria" pitchFamily="34" charset="-122"/>
                <a:cs typeface="Cambria" pitchFamily="34" charset="-120"/>
              </a:rPr>
              <a:t>El aprendizaje es la consecuencia del juego</a:t>
            </a:r>
            <a:endParaRPr lang="en-US" sz="2400" dirty="0"/>
          </a:p>
        </p:txBody>
      </p:sp>
      <p:sp>
        <p:nvSpPr>
          <p:cNvPr id="6" name="Subtitulo"/>
          <p:cNvSpPr txBox="1"/>
          <p:nvPr/>
        </p:nvSpPr>
        <p:spPr>
          <a:xfrm>
            <a:off x="548640" y="3291840"/>
            <a:ext cx="8046720" cy="457200"/>
          </a:xfrm>
          <a:prstGeom prst="rect">
            <a:avLst/>
          </a:prstGeom>
          <a:noFill/>
          <a:ln/>
        </p:spPr>
        <p:txBody>
          <a:bodyPr wrap="square" lIns="0" tIns="0" rIns="0" bIns="0" rtlCol="0" anchor="ctr"/>
          <a:lstStyle/>
          <a:p>
            <a:pPr indent="0" marL="0">
              <a:buNone/>
            </a:pPr>
            <a:r>
              <a:rPr lang="en-US" sz="1600" dirty="0">
                <a:solidFill>
                  <a:srgbClr val="CFC3E3"/>
                </a:solidFill>
                <a:latin typeface="Calibri" pitchFamily="34" charset="0"/>
                <a:ea typeface="Calibri" pitchFamily="34" charset="-122"/>
                <a:cs typeface="Calibri" pitchFamily="34" charset="-120"/>
              </a:rPr>
              <a:t>Un juego de realidad aumentada para aprender idiomas jugando</a:t>
            </a:r>
            <a:endParaRPr lang="en-US" sz="1600" dirty="0"/>
          </a:p>
        </p:txBody>
      </p:sp>
      <p:sp>
        <p:nvSpPr>
          <p:cNvPr id="7" name="Autor"/>
          <p:cNvSpPr txBox="1"/>
          <p:nvPr/>
        </p:nvSpPr>
        <p:spPr>
          <a:xfrm>
            <a:off x="548640" y="4389120"/>
            <a:ext cx="5486400" cy="274320"/>
          </a:xfrm>
          <a:prstGeom prst="rect">
            <a:avLst/>
          </a:prstGeom>
          <a:noFill/>
          <a:ln/>
        </p:spPr>
        <p:txBody>
          <a:bodyPr wrap="square" lIns="0" tIns="0" rIns="0" bIns="0" rtlCol="0" anchor="ctr"/>
          <a:lstStyle/>
          <a:p>
            <a:pPr indent="0" marL="0">
              <a:buNone/>
            </a:pPr>
            <a:r>
              <a:rPr lang="en-US" sz="1200" dirty="0">
                <a:solidFill>
                  <a:srgbClr val="CFC3E3"/>
                </a:solidFill>
                <a:latin typeface="Calibri" pitchFamily="34" charset="0"/>
                <a:ea typeface="Calibri" pitchFamily="34" charset="-122"/>
                <a:cs typeface="Calibri" pitchFamily="34" charset="-120"/>
              </a:rPr>
              <a:t>Hispanic Open Learning Academy Inc.</a:t>
            </a:r>
            <a:endParaRPr lang="en-US" sz="1200" dirty="0"/>
          </a:p>
        </p:txBody>
      </p:sp>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ph idx="100" type="title" hasCustomPrompt="1"/>
          </p:nvPr>
        </p:nvSpPr>
        <p:spPr>
          <a:xfrm>
            <a:off x="548640" y="365760"/>
            <a:ext cx="8046720" cy="822960"/>
          </a:xfrm>
          <a:prstGeom prst="rect">
            <a:avLst/>
          </a:prstGeom>
          <a:noFill/>
          <a:ln/>
        </p:spPr>
        <p:txBody>
          <a:bodyPr wrap="square" lIns="0" tIns="0" rIns="0" bIns="0" rtlCol="0" anchor="ctr"/>
          <a:lstStyle/>
          <a:p>
            <a:pPr algn="l" indent="0" marL="0">
              <a:buNone/>
            </a:pPr>
            <a:r>
              <a:rPr lang="en-US" sz="3200" b="1" dirty="0">
                <a:solidFill>
                  <a:srgbClr val="241638"/>
                </a:solidFill>
                <a:latin typeface="Cambria" pitchFamily="34" charset="0"/>
                <a:ea typeface="Cambria" pitchFamily="34" charset="-122"/>
                <a:cs typeface="Cambria" pitchFamily="34" charset="-120"/>
              </a:rPr>
              <a:t>Dos hechos que nos movieron</a:t>
            </a:r>
            <a:endParaRPr lang="en-US" sz="3200" dirty="0"/>
          </a:p>
        </p:txBody>
      </p:sp>
      <p:sp>
        <p:nvSpPr>
          <p:cNvPr id="4" name="Tarjeta 1"/>
          <p:cNvSpPr/>
          <p:nvPr/>
        </p:nvSpPr>
        <p:spPr>
          <a:xfrm>
            <a:off x="548640" y="1280160"/>
            <a:ext cx="3886200" cy="3291840"/>
          </a:xfrm>
          <a:prstGeom prst="roundRect">
            <a:avLst>
              <a:gd name="adj" fmla="val 3333"/>
            </a:avLst>
          </a:prstGeom>
          <a:solidFill>
            <a:srgbClr val="F3EEF9"/>
          </a:solidFill>
          <a:ln w="12700">
            <a:solidFill>
              <a:srgbClr val="F3EEF9"/>
            </a:solidFill>
            <a:prstDash val="solid"/>
          </a:ln>
        </p:spPr>
      </p:sp>
      <p:sp>
        <p:nvSpPr>
          <p:cNvPr id="5" name="Circulo 1"/>
          <p:cNvSpPr/>
          <p:nvPr/>
        </p:nvSpPr>
        <p:spPr>
          <a:xfrm>
            <a:off x="822960" y="1463040"/>
            <a:ext cx="594360" cy="594360"/>
          </a:xfrm>
          <a:prstGeom prst="ellipse">
            <a:avLst/>
          </a:prstGeom>
          <a:solidFill>
            <a:srgbClr val="7B4FB3"/>
          </a:solidFill>
          <a:ln w="12700">
            <a:solidFill>
              <a:srgbClr val="7B4FB3"/>
            </a:solidFill>
            <a:prstDash val="solid"/>
          </a:ln>
        </p:spPr>
      </p:sp>
      <p:pic>
        <p:nvPicPr>
          <p:cNvPr id="6" name="Image 0" descr="Icono Pantallas desde la infancia">    </p:cNvPr>
          <p:cNvPicPr>
            <a:picLocks noChangeAspect="1"/>
          </p:cNvPicPr>
          <p:nvPr/>
        </p:nvPicPr>
        <p:blipFill>
          <a:blip r:embed="rId1"/>
          <a:stretch>
            <a:fillRect/>
          </a:stretch>
        </p:blipFill>
        <p:spPr>
          <a:xfrm>
            <a:off x="960120" y="1600200"/>
            <a:ext cx="320040" cy="320040"/>
          </a:xfrm>
          <a:prstGeom prst="rect">
            <a:avLst/>
          </a:prstGeom>
        </p:spPr>
      </p:pic>
      <p:sp>
        <p:nvSpPr>
          <p:cNvPr id="7" name="Encabezado 1"/>
          <p:cNvSpPr txBox="1"/>
          <p:nvPr/>
        </p:nvSpPr>
        <p:spPr>
          <a:xfrm>
            <a:off x="822960" y="2194560"/>
            <a:ext cx="3337560" cy="365760"/>
          </a:xfrm>
          <a:prstGeom prst="rect">
            <a:avLst/>
          </a:prstGeom>
          <a:noFill/>
          <a:ln/>
        </p:spPr>
        <p:txBody>
          <a:bodyPr wrap="square" lIns="0" tIns="0" rIns="0" bIns="0" rtlCol="0" anchor="ctr"/>
          <a:lstStyle/>
          <a:p>
            <a:pPr indent="0" marL="0">
              <a:buNone/>
            </a:pPr>
            <a:r>
              <a:rPr lang="en-US" sz="1800" b="1" dirty="0">
                <a:solidFill>
                  <a:srgbClr val="241638"/>
                </a:solidFill>
                <a:latin typeface="Cambria" pitchFamily="34" charset="0"/>
                <a:ea typeface="Cambria" pitchFamily="34" charset="-122"/>
                <a:cs typeface="Cambria" pitchFamily="34" charset="-120"/>
              </a:rPr>
              <a:t>Pantallas desde la infancia</a:t>
            </a:r>
            <a:endParaRPr lang="en-US" sz="1800" dirty="0"/>
          </a:p>
        </p:txBody>
      </p:sp>
      <p:sp>
        <p:nvSpPr>
          <p:cNvPr id="8" name="Texto 1"/>
          <p:cNvSpPr txBox="1"/>
          <p:nvPr/>
        </p:nvSpPr>
        <p:spPr>
          <a:xfrm>
            <a:off x="822960" y="2651760"/>
            <a:ext cx="3337560" cy="18288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3B2756"/>
                </a:solidFill>
                <a:latin typeface="Calibri" pitchFamily="34" charset="0"/>
                <a:ea typeface="Calibri" pitchFamily="34" charset="-122"/>
                <a:cs typeface="Calibri" pitchFamily="34" charset="-120"/>
              </a:rPr>
              <a:t>58 % de los niños de 4 años en EE. UU. ya tiene tablet propia (Common Sense, 2025).</a:t>
            </a:r>
            <a:endParaRPr lang="en-US" sz="1400" dirty="0"/>
          </a:p>
          <a:p>
            <a:pPr marL="342900" indent="-342900">
              <a:spcAft>
                <a:spcPts val="800"/>
              </a:spcAft>
              <a:buSzPct val="100000"/>
              <a:buChar char="•"/>
            </a:pPr>
            <a:r>
              <a:rPr lang="en-US" sz="1400" dirty="0">
                <a:solidFill>
                  <a:srgbClr val="3B2756"/>
                </a:solidFill>
                <a:latin typeface="Calibri" pitchFamily="34" charset="0"/>
                <a:ea typeface="Calibri" pitchFamily="34" charset="-122"/>
                <a:cs typeface="Calibri" pitchFamily="34" charset="-120"/>
              </a:rPr>
              <a:t>Prohibir el celular en el aula da resultados mixtos (Goodyear et al., 2025). Pesan más el contenido y la compañía que los minutos.</a:t>
            </a:r>
            <a:endParaRPr lang="en-US" sz="1400" dirty="0"/>
          </a:p>
        </p:txBody>
      </p:sp>
      <p:sp>
        <p:nvSpPr>
          <p:cNvPr id="9" name="Tarjeta 2"/>
          <p:cNvSpPr/>
          <p:nvPr/>
        </p:nvSpPr>
        <p:spPr>
          <a:xfrm>
            <a:off x="4709160" y="1280160"/>
            <a:ext cx="3886200" cy="3291840"/>
          </a:xfrm>
          <a:prstGeom prst="roundRect">
            <a:avLst>
              <a:gd name="adj" fmla="val 3333"/>
            </a:avLst>
          </a:prstGeom>
          <a:solidFill>
            <a:srgbClr val="F3EEF9"/>
          </a:solidFill>
          <a:ln w="12700">
            <a:solidFill>
              <a:srgbClr val="F3EEF9"/>
            </a:solidFill>
            <a:prstDash val="solid"/>
          </a:ln>
        </p:spPr>
      </p:sp>
      <p:sp>
        <p:nvSpPr>
          <p:cNvPr id="10" name="Circulo 2"/>
          <p:cNvSpPr/>
          <p:nvPr/>
        </p:nvSpPr>
        <p:spPr>
          <a:xfrm>
            <a:off x="4983480" y="1463040"/>
            <a:ext cx="594360" cy="594360"/>
          </a:xfrm>
          <a:prstGeom prst="ellipse">
            <a:avLst/>
          </a:prstGeom>
          <a:solidFill>
            <a:srgbClr val="E8731A"/>
          </a:solidFill>
          <a:ln w="12700">
            <a:solidFill>
              <a:srgbClr val="E8731A"/>
            </a:solidFill>
            <a:prstDash val="solid"/>
          </a:ln>
        </p:spPr>
      </p:sp>
      <p:pic>
        <p:nvPicPr>
          <p:cNvPr id="11" name="Image 1" descr="Icono Aprender y divertirse">    </p:cNvPr>
          <p:cNvPicPr>
            <a:picLocks noChangeAspect="1"/>
          </p:cNvPicPr>
          <p:nvPr/>
        </p:nvPicPr>
        <p:blipFill>
          <a:blip r:embed="rId2"/>
          <a:stretch>
            <a:fillRect/>
          </a:stretch>
        </p:blipFill>
        <p:spPr>
          <a:xfrm>
            <a:off x="5120640" y="1600200"/>
            <a:ext cx="320040" cy="320040"/>
          </a:xfrm>
          <a:prstGeom prst="rect">
            <a:avLst/>
          </a:prstGeom>
        </p:spPr>
      </p:pic>
      <p:sp>
        <p:nvSpPr>
          <p:cNvPr id="12" name="Encabezado 2"/>
          <p:cNvSpPr txBox="1"/>
          <p:nvPr/>
        </p:nvSpPr>
        <p:spPr>
          <a:xfrm>
            <a:off x="4983480" y="2194560"/>
            <a:ext cx="3337560" cy="365760"/>
          </a:xfrm>
          <a:prstGeom prst="rect">
            <a:avLst/>
          </a:prstGeom>
          <a:noFill/>
          <a:ln/>
        </p:spPr>
        <p:txBody>
          <a:bodyPr wrap="square" lIns="0" tIns="0" rIns="0" bIns="0" rtlCol="0" anchor="ctr"/>
          <a:lstStyle/>
          <a:p>
            <a:pPr indent="0" marL="0">
              <a:buNone/>
            </a:pPr>
            <a:r>
              <a:rPr lang="en-US" sz="1800" b="1" dirty="0">
                <a:solidFill>
                  <a:srgbClr val="241638"/>
                </a:solidFill>
                <a:latin typeface="Cambria" pitchFamily="34" charset="0"/>
                <a:ea typeface="Cambria" pitchFamily="34" charset="-122"/>
                <a:cs typeface="Cambria" pitchFamily="34" charset="-120"/>
              </a:rPr>
              <a:t>Aprender y divertirse</a:t>
            </a:r>
            <a:endParaRPr lang="en-US" sz="1800" dirty="0"/>
          </a:p>
        </p:txBody>
      </p:sp>
      <p:sp>
        <p:nvSpPr>
          <p:cNvPr id="13" name="Texto 2"/>
          <p:cNvSpPr txBox="1"/>
          <p:nvPr/>
        </p:nvSpPr>
        <p:spPr>
          <a:xfrm>
            <a:off x="4983480" y="2651760"/>
            <a:ext cx="3337560" cy="18288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3B2756"/>
                </a:solidFill>
                <a:latin typeface="Calibri" pitchFamily="34" charset="0"/>
                <a:ea typeface="Calibri" pitchFamily="34" charset="-122"/>
                <a:cs typeface="Calibri" pitchFamily="34" charset="-120"/>
              </a:rPr>
              <a:t>Los serious games enseñan algo más que la clase tradicional, pero no motivan más (Wouters et al., 2013).</a:t>
            </a:r>
            <a:endParaRPr lang="en-US" sz="1400" dirty="0"/>
          </a:p>
          <a:p>
            <a:pPr marL="342900" indent="-342900">
              <a:spcAft>
                <a:spcPts val="800"/>
              </a:spcAft>
              <a:buSzPct val="100000"/>
              <a:buChar char="•"/>
            </a:pPr>
            <a:r>
              <a:rPr lang="en-US" sz="1400" dirty="0">
                <a:solidFill>
                  <a:srgbClr val="3B2756"/>
                </a:solidFill>
                <a:latin typeface="Calibri" pitchFamily="34" charset="0"/>
                <a:ea typeface="Calibri" pitchFamily="34" charset="-122"/>
                <a:cs typeface="Calibri" pitchFamily="34" charset="-120"/>
              </a:rPr>
              <a:t>Si la mecánica es el contenido, el jugador aprende más y juega más por elección (Habgood y Ainsworth, 2011).</a:t>
            </a:r>
            <a:endParaRPr lang="en-US" sz="1400" dirty="0"/>
          </a:p>
        </p:txBody>
      </p:sp>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C6B7A"/>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ulo"/>
          <p:cNvSpPr txBox="1"/>
          <p:nvPr/>
        </p:nvSpPr>
        <p:spPr>
          <a:xfrm>
            <a:off x="548640" y="457200"/>
            <a:ext cx="8046720" cy="640080"/>
          </a:xfrm>
          <a:prstGeom prst="rect">
            <a:avLst/>
          </a:prstGeom>
          <a:noFill/>
          <a:ln/>
        </p:spPr>
        <p:txBody>
          <a:bodyPr wrap="square" lIns="0" tIns="0" rIns="0" bIns="0" rtlCol="0" anchor="ctr"/>
          <a:lstStyle/>
          <a:p>
            <a:pPr indent="0" marL="0">
              <a:buNone/>
            </a:pPr>
            <a:r>
              <a:rPr lang="en-US" sz="3200" b="1" dirty="0">
                <a:solidFill>
                  <a:srgbClr val="F4B942"/>
                </a:solidFill>
                <a:latin typeface="Cambria" pitchFamily="34" charset="0"/>
                <a:ea typeface="Cambria" pitchFamily="34" charset="-122"/>
                <a:cs typeface="Cambria" pitchFamily="34" charset="-120"/>
              </a:rPr>
              <a:t>Nuestra apuesta</a:t>
            </a:r>
            <a:endParaRPr lang="en-US" sz="3200" dirty="0"/>
          </a:p>
        </p:txBody>
      </p:sp>
      <p:sp>
        <p:nvSpPr>
          <p:cNvPr id="4" name="Frase 1"/>
          <p:cNvSpPr txBox="1"/>
          <p:nvPr/>
        </p:nvSpPr>
        <p:spPr>
          <a:xfrm>
            <a:off x="548640" y="1371600"/>
            <a:ext cx="804672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Primero un juego divertido.</a:t>
            </a:r>
            <a:endParaRPr lang="en-US" sz="3800" dirty="0"/>
          </a:p>
        </p:txBody>
      </p:sp>
      <p:sp>
        <p:nvSpPr>
          <p:cNvPr id="5" name="Frase 2"/>
          <p:cNvSpPr txBox="1"/>
          <p:nvPr/>
        </p:nvSpPr>
        <p:spPr>
          <a:xfrm>
            <a:off x="548640" y="2194560"/>
            <a:ext cx="8046720" cy="822960"/>
          </a:xfrm>
          <a:prstGeom prst="rect">
            <a:avLst/>
          </a:prstGeom>
          <a:noFill/>
          <a:ln/>
        </p:spPr>
        <p:txBody>
          <a:bodyPr wrap="square" lIns="0" tIns="0" rIns="0" bIns="0" rtlCol="0" anchor="ctr"/>
          <a:lstStyle/>
          <a:p>
            <a:pPr indent="0" marL="0">
              <a:buNone/>
            </a:pPr>
            <a:r>
              <a:rPr lang="en-US" sz="3800" i="1" dirty="0">
                <a:solidFill>
                  <a:srgbClr val="E8731A"/>
                </a:solidFill>
                <a:latin typeface="Cambria" pitchFamily="34" charset="0"/>
                <a:ea typeface="Cambria" pitchFamily="34" charset="-122"/>
                <a:cs typeface="Cambria" pitchFamily="34" charset="-120"/>
              </a:rPr>
              <a:t>El aprendizaje llega como consecuencia.</a:t>
            </a:r>
            <a:endParaRPr lang="en-US" sz="3800" dirty="0"/>
          </a:p>
        </p:txBody>
      </p:sp>
      <p:sp>
        <p:nvSpPr>
          <p:cNvPr id="6" name="Hipotesis"/>
          <p:cNvSpPr txBox="1"/>
          <p:nvPr/>
        </p:nvSpPr>
        <p:spPr>
          <a:xfrm>
            <a:off x="548640" y="3291840"/>
            <a:ext cx="7315200" cy="1188720"/>
          </a:xfrm>
          <a:prstGeom prst="rect">
            <a:avLst/>
          </a:prstGeom>
          <a:noFill/>
          <a:ln/>
        </p:spPr>
        <p:txBody>
          <a:bodyPr wrap="square" lIns="0" tIns="0" rIns="0" bIns="0" rtlCol="0" anchor="t"/>
          <a:lstStyle/>
          <a:p>
            <a:pPr indent="0" marL="0">
              <a:buNone/>
            </a:pPr>
            <a:r>
              <a:rPr lang="en-US" sz="1600" dirty="0">
                <a:solidFill>
                  <a:srgbClr val="CFC3E3"/>
                </a:solidFill>
                <a:latin typeface="Calibri" pitchFamily="34" charset="0"/>
                <a:ea typeface="Calibri" pitchFamily="34" charset="-122"/>
                <a:cs typeface="Calibri" pitchFamily="34" charset="-120"/>
              </a:rPr>
              <a:t>Creemos que muchos juegos educativos separan el aprendizaje de la diversión: es nuestra lectura. Hipótesis: un juego que divierte gana la atención del jugador por sí mismo, y esa atención hace posible aprender. Hoy lo ponemos a prueba con ustedes.</a:t>
            </a:r>
            <a:endParaRPr lang="en-US" sz="1600" dirty="0"/>
          </a:p>
        </p:txBody>
      </p:sp>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ph idx="100" type="title" hasCustomPrompt="1"/>
          </p:nvPr>
        </p:nvSpPr>
        <p:spPr>
          <a:xfrm>
            <a:off x="548640" y="365760"/>
            <a:ext cx="8046720" cy="822960"/>
          </a:xfrm>
          <a:prstGeom prst="rect">
            <a:avLst/>
          </a:prstGeom>
          <a:noFill/>
          <a:ln/>
        </p:spPr>
        <p:txBody>
          <a:bodyPr wrap="square" lIns="0" tIns="0" rIns="0" bIns="0" rtlCol="0" anchor="ctr"/>
          <a:lstStyle/>
          <a:p>
            <a:pPr algn="l" indent="0" marL="0">
              <a:buNone/>
            </a:pPr>
            <a:r>
              <a:rPr lang="en-US" sz="3200" b="1" dirty="0">
                <a:solidFill>
                  <a:srgbClr val="241638"/>
                </a:solidFill>
                <a:latin typeface="Cambria" pitchFamily="34" charset="0"/>
                <a:ea typeface="Cambria" pitchFamily="34" charset="-122"/>
                <a:cs typeface="Cambria" pitchFamily="34" charset="-120"/>
              </a:rPr>
              <a:t>Encontrar, descifrar, completar</a:t>
            </a:r>
            <a:endParaRPr lang="en-US" sz="3200" dirty="0"/>
          </a:p>
        </p:txBody>
      </p:sp>
      <p:sp>
        <p:nvSpPr>
          <p:cNvPr id="4" name="Tarjeta Encontrar"/>
          <p:cNvSpPr/>
          <p:nvPr/>
        </p:nvSpPr>
        <p:spPr>
          <a:xfrm>
            <a:off x="548640" y="1417320"/>
            <a:ext cx="2560320" cy="3108960"/>
          </a:xfrm>
          <a:prstGeom prst="roundRect">
            <a:avLst>
              <a:gd name="adj" fmla="val 4286"/>
            </a:avLst>
          </a:prstGeom>
          <a:solidFill>
            <a:srgbClr val="F3EEF9"/>
          </a:solidFill>
          <a:ln w="12700">
            <a:solidFill>
              <a:srgbClr val="F3EEF9"/>
            </a:solidFill>
            <a:prstDash val="solid"/>
          </a:ln>
        </p:spPr>
      </p:sp>
      <p:sp>
        <p:nvSpPr>
          <p:cNvPr id="5" name="Circulo Encontrar"/>
          <p:cNvSpPr/>
          <p:nvPr/>
        </p:nvSpPr>
        <p:spPr>
          <a:xfrm>
            <a:off x="822960" y="1645920"/>
            <a:ext cx="731520" cy="731520"/>
          </a:xfrm>
          <a:prstGeom prst="ellipse">
            <a:avLst/>
          </a:prstGeom>
          <a:solidFill>
            <a:srgbClr val="E8731A"/>
          </a:solidFill>
          <a:ln w="12700">
            <a:solidFill>
              <a:srgbClr val="E8731A"/>
            </a:solidFill>
            <a:prstDash val="solid"/>
          </a:ln>
        </p:spPr>
      </p:sp>
      <p:pic>
        <p:nvPicPr>
          <p:cNvPr id="6" name="Image 0" descr="Icono Encontrar">    </p:cNvPr>
          <p:cNvPicPr>
            <a:picLocks noChangeAspect="1"/>
          </p:cNvPicPr>
          <p:nvPr/>
        </p:nvPicPr>
        <p:blipFill>
          <a:blip r:embed="rId1"/>
          <a:stretch>
            <a:fillRect/>
          </a:stretch>
        </p:blipFill>
        <p:spPr>
          <a:xfrm>
            <a:off x="987552" y="1810512"/>
            <a:ext cx="402336" cy="402336"/>
          </a:xfrm>
          <a:prstGeom prst="rect">
            <a:avLst/>
          </a:prstGeom>
        </p:spPr>
      </p:pic>
      <p:sp>
        <p:nvSpPr>
          <p:cNvPr id="7" name="Encabezado Encontrar"/>
          <p:cNvSpPr txBox="1"/>
          <p:nvPr/>
        </p:nvSpPr>
        <p:spPr>
          <a:xfrm>
            <a:off x="822960" y="2514600"/>
            <a:ext cx="2103120" cy="365760"/>
          </a:xfrm>
          <a:prstGeom prst="rect">
            <a:avLst/>
          </a:prstGeom>
          <a:noFill/>
          <a:ln/>
        </p:spPr>
        <p:txBody>
          <a:bodyPr wrap="square" lIns="0" tIns="0" rIns="0" bIns="0" rtlCol="0" anchor="ctr"/>
          <a:lstStyle/>
          <a:p>
            <a:pPr indent="0" marL="0">
              <a:buNone/>
            </a:pPr>
            <a:r>
              <a:rPr lang="en-US" sz="2000" b="1" dirty="0">
                <a:solidFill>
                  <a:srgbClr val="241638"/>
                </a:solidFill>
                <a:latin typeface="Cambria" pitchFamily="34" charset="0"/>
                <a:ea typeface="Cambria" pitchFamily="34" charset="-122"/>
                <a:cs typeface="Cambria" pitchFamily="34" charset="-120"/>
              </a:rPr>
              <a:t>1. Encontrar</a:t>
            </a:r>
            <a:endParaRPr lang="en-US" sz="2000" dirty="0"/>
          </a:p>
        </p:txBody>
      </p:sp>
      <p:sp>
        <p:nvSpPr>
          <p:cNvPr id="8" name="Texto Encontrar"/>
          <p:cNvSpPr txBox="1"/>
          <p:nvPr/>
        </p:nvSpPr>
        <p:spPr>
          <a:xfrm>
            <a:off x="822960" y="2926080"/>
            <a:ext cx="2103120" cy="1005840"/>
          </a:xfrm>
          <a:prstGeom prst="rect">
            <a:avLst/>
          </a:prstGeom>
          <a:noFill/>
          <a:ln/>
        </p:spPr>
        <p:txBody>
          <a:bodyPr wrap="square" lIns="0" tIns="0" rIns="0" bIns="0" rtlCol="0" anchor="t"/>
          <a:lstStyle/>
          <a:p>
            <a:pPr indent="0" marL="0">
              <a:buNone/>
            </a:pPr>
            <a:r>
              <a:rPr lang="en-US" sz="1400" dirty="0">
                <a:solidFill>
                  <a:srgbClr val="3B2756"/>
                </a:solidFill>
                <a:latin typeface="Calibri" pitchFamily="34" charset="0"/>
                <a:ea typeface="Calibri" pitchFamily="34" charset="-122"/>
                <a:cs typeface="Calibri" pitchFamily="34" charset="-120"/>
              </a:rPr>
              <a:t>La realidad aumentada atrae al jugador. Escanea una imagen y recoge objetos.</a:t>
            </a:r>
            <a:endParaRPr lang="en-US" sz="1400" dirty="0"/>
          </a:p>
        </p:txBody>
      </p:sp>
      <p:sp>
        <p:nvSpPr>
          <p:cNvPr id="9" name="Efecto Encontrar"/>
          <p:cNvSpPr txBox="1"/>
          <p:nvPr/>
        </p:nvSpPr>
        <p:spPr>
          <a:xfrm>
            <a:off x="822960" y="3977640"/>
            <a:ext cx="2103120" cy="365760"/>
          </a:xfrm>
          <a:prstGeom prst="rect">
            <a:avLst/>
          </a:prstGeom>
          <a:noFill/>
          <a:ln/>
        </p:spPr>
        <p:txBody>
          <a:bodyPr wrap="square" lIns="0" tIns="0" rIns="0" bIns="0" rtlCol="0" anchor="ctr"/>
          <a:lstStyle/>
          <a:p>
            <a:pPr indent="0" marL="0">
              <a:buNone/>
            </a:pPr>
            <a:r>
              <a:rPr lang="en-US" sz="1300" b="1" i="1" dirty="0">
                <a:solidFill>
                  <a:srgbClr val="E8731A"/>
                </a:solidFill>
                <a:latin typeface="Calibri" pitchFamily="34" charset="0"/>
                <a:ea typeface="Calibri" pitchFamily="34" charset="-122"/>
                <a:cs typeface="Calibri" pitchFamily="34" charset="-120"/>
              </a:rPr>
              <a:t>Asombro y satisfacción</a:t>
            </a:r>
            <a:endParaRPr lang="en-US" sz="1300" dirty="0"/>
          </a:p>
        </p:txBody>
      </p:sp>
      <p:sp>
        <p:nvSpPr>
          <p:cNvPr id="10" name="Tarjeta Descifrar"/>
          <p:cNvSpPr/>
          <p:nvPr/>
        </p:nvSpPr>
        <p:spPr>
          <a:xfrm>
            <a:off x="3337560" y="1417320"/>
            <a:ext cx="2560320" cy="3108960"/>
          </a:xfrm>
          <a:prstGeom prst="roundRect">
            <a:avLst>
              <a:gd name="adj" fmla="val 4286"/>
            </a:avLst>
          </a:prstGeom>
          <a:solidFill>
            <a:srgbClr val="F3EEF9"/>
          </a:solidFill>
          <a:ln w="12700">
            <a:solidFill>
              <a:srgbClr val="F3EEF9"/>
            </a:solidFill>
            <a:prstDash val="solid"/>
          </a:ln>
        </p:spPr>
      </p:sp>
      <p:sp>
        <p:nvSpPr>
          <p:cNvPr id="11" name="Circulo Descifrar"/>
          <p:cNvSpPr/>
          <p:nvPr/>
        </p:nvSpPr>
        <p:spPr>
          <a:xfrm>
            <a:off x="3611880" y="1645920"/>
            <a:ext cx="731520" cy="731520"/>
          </a:xfrm>
          <a:prstGeom prst="ellipse">
            <a:avLst/>
          </a:prstGeom>
          <a:solidFill>
            <a:srgbClr val="7B4FB3"/>
          </a:solidFill>
          <a:ln w="12700">
            <a:solidFill>
              <a:srgbClr val="7B4FB3"/>
            </a:solidFill>
            <a:prstDash val="solid"/>
          </a:ln>
        </p:spPr>
      </p:sp>
      <p:pic>
        <p:nvPicPr>
          <p:cNvPr id="12" name="Image 1" descr="Icono Descifrar">    </p:cNvPr>
          <p:cNvPicPr>
            <a:picLocks noChangeAspect="1"/>
          </p:cNvPicPr>
          <p:nvPr/>
        </p:nvPicPr>
        <p:blipFill>
          <a:blip r:embed="rId2"/>
          <a:stretch>
            <a:fillRect/>
          </a:stretch>
        </p:blipFill>
        <p:spPr>
          <a:xfrm>
            <a:off x="3776472" y="1810512"/>
            <a:ext cx="402336" cy="402336"/>
          </a:xfrm>
          <a:prstGeom prst="rect">
            <a:avLst/>
          </a:prstGeom>
        </p:spPr>
      </p:pic>
      <p:sp>
        <p:nvSpPr>
          <p:cNvPr id="13" name="Encabezado Descifrar"/>
          <p:cNvSpPr txBox="1"/>
          <p:nvPr/>
        </p:nvSpPr>
        <p:spPr>
          <a:xfrm>
            <a:off x="3611880" y="2514600"/>
            <a:ext cx="2103120" cy="365760"/>
          </a:xfrm>
          <a:prstGeom prst="rect">
            <a:avLst/>
          </a:prstGeom>
          <a:noFill/>
          <a:ln/>
        </p:spPr>
        <p:txBody>
          <a:bodyPr wrap="square" lIns="0" tIns="0" rIns="0" bIns="0" rtlCol="0" anchor="ctr"/>
          <a:lstStyle/>
          <a:p>
            <a:pPr indent="0" marL="0">
              <a:buNone/>
            </a:pPr>
            <a:r>
              <a:rPr lang="en-US" sz="2000" b="1" dirty="0">
                <a:solidFill>
                  <a:srgbClr val="241638"/>
                </a:solidFill>
                <a:latin typeface="Cambria" pitchFamily="34" charset="0"/>
                <a:ea typeface="Cambria" pitchFamily="34" charset="-122"/>
                <a:cs typeface="Cambria" pitchFamily="34" charset="-120"/>
              </a:rPr>
              <a:t>2. Descifrar</a:t>
            </a:r>
            <a:endParaRPr lang="en-US" sz="2000" dirty="0"/>
          </a:p>
        </p:txBody>
      </p:sp>
      <p:sp>
        <p:nvSpPr>
          <p:cNvPr id="14" name="Texto Descifrar"/>
          <p:cNvSpPr txBox="1"/>
          <p:nvPr/>
        </p:nvSpPr>
        <p:spPr>
          <a:xfrm>
            <a:off x="3611880" y="2926080"/>
            <a:ext cx="2103120" cy="1005840"/>
          </a:xfrm>
          <a:prstGeom prst="rect">
            <a:avLst/>
          </a:prstGeom>
          <a:noFill/>
          <a:ln/>
        </p:spPr>
        <p:txBody>
          <a:bodyPr wrap="square" lIns="0" tIns="0" rIns="0" bIns="0" rtlCol="0" anchor="t"/>
          <a:lstStyle/>
          <a:p>
            <a:pPr indent="0" marL="0">
              <a:buNone/>
            </a:pPr>
            <a:r>
              <a:rPr lang="en-US" sz="1400" dirty="0">
                <a:solidFill>
                  <a:srgbClr val="3B2756"/>
                </a:solidFill>
                <a:latin typeface="Calibri" pitchFamily="34" charset="0"/>
                <a:ea typeface="Calibri" pitchFamily="34" charset="-122"/>
                <a:cs typeface="Calibri" pitchFamily="34" charset="-120"/>
              </a:rPr>
              <a:t>Arrastra cada objeto a su socket y reconoce los targets que corresponden.</a:t>
            </a:r>
            <a:endParaRPr lang="en-US" sz="1400" dirty="0"/>
          </a:p>
        </p:txBody>
      </p:sp>
      <p:sp>
        <p:nvSpPr>
          <p:cNvPr id="15" name="Efecto Descifrar"/>
          <p:cNvSpPr txBox="1"/>
          <p:nvPr/>
        </p:nvSpPr>
        <p:spPr>
          <a:xfrm>
            <a:off x="3611880" y="3977640"/>
            <a:ext cx="2103120" cy="365760"/>
          </a:xfrm>
          <a:prstGeom prst="rect">
            <a:avLst/>
          </a:prstGeom>
          <a:noFill/>
          <a:ln/>
        </p:spPr>
        <p:txBody>
          <a:bodyPr wrap="square" lIns="0" tIns="0" rIns="0" bIns="0" rtlCol="0" anchor="ctr"/>
          <a:lstStyle/>
          <a:p>
            <a:pPr indent="0" marL="0">
              <a:buNone/>
            </a:pPr>
            <a:r>
              <a:rPr lang="en-US" sz="1300" b="1" i="1" dirty="0">
                <a:solidFill>
                  <a:srgbClr val="7B4FB3"/>
                </a:solidFill>
                <a:latin typeface="Calibri" pitchFamily="34" charset="0"/>
                <a:ea typeface="Calibri" pitchFamily="34" charset="-122"/>
                <a:cs typeface="Calibri" pitchFamily="34" charset="-120"/>
              </a:rPr>
              <a:t>Reto intuitivo, historia nueva</a:t>
            </a:r>
            <a:endParaRPr lang="en-US" sz="1300" dirty="0"/>
          </a:p>
        </p:txBody>
      </p:sp>
      <p:sp>
        <p:nvSpPr>
          <p:cNvPr id="16" name="Tarjeta Completar"/>
          <p:cNvSpPr/>
          <p:nvPr/>
        </p:nvSpPr>
        <p:spPr>
          <a:xfrm>
            <a:off x="6126480" y="1417320"/>
            <a:ext cx="2560320" cy="3108960"/>
          </a:xfrm>
          <a:prstGeom prst="roundRect">
            <a:avLst>
              <a:gd name="adj" fmla="val 4286"/>
            </a:avLst>
          </a:prstGeom>
          <a:solidFill>
            <a:srgbClr val="F3EEF9"/>
          </a:solidFill>
          <a:ln w="12700">
            <a:solidFill>
              <a:srgbClr val="F3EEF9"/>
            </a:solidFill>
            <a:prstDash val="solid"/>
          </a:ln>
        </p:spPr>
      </p:sp>
      <p:sp>
        <p:nvSpPr>
          <p:cNvPr id="17" name="Circulo Completar"/>
          <p:cNvSpPr/>
          <p:nvPr/>
        </p:nvSpPr>
        <p:spPr>
          <a:xfrm>
            <a:off x="6400800" y="1645920"/>
            <a:ext cx="731520" cy="731520"/>
          </a:xfrm>
          <a:prstGeom prst="ellipse">
            <a:avLst/>
          </a:prstGeom>
          <a:solidFill>
            <a:srgbClr val="2FA38A"/>
          </a:solidFill>
          <a:ln w="12700">
            <a:solidFill>
              <a:srgbClr val="2FA38A"/>
            </a:solidFill>
            <a:prstDash val="solid"/>
          </a:ln>
        </p:spPr>
      </p:sp>
      <p:pic>
        <p:nvPicPr>
          <p:cNvPr id="18" name="Image 2" descr="Icono Completar">    </p:cNvPr>
          <p:cNvPicPr>
            <a:picLocks noChangeAspect="1"/>
          </p:cNvPicPr>
          <p:nvPr/>
        </p:nvPicPr>
        <p:blipFill>
          <a:blip r:embed="rId3"/>
          <a:stretch>
            <a:fillRect/>
          </a:stretch>
        </p:blipFill>
        <p:spPr>
          <a:xfrm>
            <a:off x="6565392" y="1810512"/>
            <a:ext cx="402336" cy="402336"/>
          </a:xfrm>
          <a:prstGeom prst="rect">
            <a:avLst/>
          </a:prstGeom>
        </p:spPr>
      </p:pic>
      <p:sp>
        <p:nvSpPr>
          <p:cNvPr id="19" name="Encabezado Completar"/>
          <p:cNvSpPr txBox="1"/>
          <p:nvPr/>
        </p:nvSpPr>
        <p:spPr>
          <a:xfrm>
            <a:off x="6400800" y="2514600"/>
            <a:ext cx="2103120" cy="365760"/>
          </a:xfrm>
          <a:prstGeom prst="rect">
            <a:avLst/>
          </a:prstGeom>
          <a:noFill/>
          <a:ln/>
        </p:spPr>
        <p:txBody>
          <a:bodyPr wrap="square" lIns="0" tIns="0" rIns="0" bIns="0" rtlCol="0" anchor="ctr"/>
          <a:lstStyle/>
          <a:p>
            <a:pPr indent="0" marL="0">
              <a:buNone/>
            </a:pPr>
            <a:r>
              <a:rPr lang="en-US" sz="2000" b="1" dirty="0">
                <a:solidFill>
                  <a:srgbClr val="241638"/>
                </a:solidFill>
                <a:latin typeface="Cambria" pitchFamily="34" charset="0"/>
                <a:ea typeface="Cambria" pitchFamily="34" charset="-122"/>
                <a:cs typeface="Cambria" pitchFamily="34" charset="-120"/>
              </a:rPr>
              <a:t>3. Completar</a:t>
            </a:r>
            <a:endParaRPr lang="en-US" sz="2000" dirty="0"/>
          </a:p>
        </p:txBody>
      </p:sp>
      <p:sp>
        <p:nvSpPr>
          <p:cNvPr id="20" name="Texto Completar"/>
          <p:cNvSpPr txBox="1"/>
          <p:nvPr/>
        </p:nvSpPr>
        <p:spPr>
          <a:xfrm>
            <a:off x="6400800" y="2926080"/>
            <a:ext cx="2103120" cy="1005840"/>
          </a:xfrm>
          <a:prstGeom prst="rect">
            <a:avLst/>
          </a:prstGeom>
          <a:noFill/>
          <a:ln/>
        </p:spPr>
        <p:txBody>
          <a:bodyPr wrap="square" lIns="0" tIns="0" rIns="0" bIns="0" rtlCol="0" anchor="t"/>
          <a:lstStyle/>
          <a:p>
            <a:pPr indent="0" marL="0">
              <a:buNone/>
            </a:pPr>
            <a:r>
              <a:rPr lang="en-US" sz="1400" dirty="0">
                <a:solidFill>
                  <a:srgbClr val="3B2756"/>
                </a:solidFill>
                <a:latin typeface="Calibri" pitchFamily="34" charset="0"/>
                <a:ea typeface="Calibri" pitchFamily="34" charset="-122"/>
                <a:cs typeface="Calibri" pitchFamily="34" charset="-120"/>
              </a:rPr>
              <a:t>Misiones como «pon la vela en el farol». Una animación refuerza el verbo.</a:t>
            </a:r>
            <a:endParaRPr lang="en-US" sz="1400" dirty="0"/>
          </a:p>
        </p:txBody>
      </p:sp>
      <p:sp>
        <p:nvSpPr>
          <p:cNvPr id="21" name="Efecto Completar"/>
          <p:cNvSpPr txBox="1"/>
          <p:nvPr/>
        </p:nvSpPr>
        <p:spPr>
          <a:xfrm>
            <a:off x="6400800" y="3977640"/>
            <a:ext cx="2103120" cy="365760"/>
          </a:xfrm>
          <a:prstGeom prst="rect">
            <a:avLst/>
          </a:prstGeom>
          <a:noFill/>
          <a:ln/>
        </p:spPr>
        <p:txBody>
          <a:bodyPr wrap="square" lIns="0" tIns="0" rIns="0" bIns="0" rtlCol="0" anchor="ctr"/>
          <a:lstStyle/>
          <a:p>
            <a:pPr indent="0" marL="0">
              <a:buNone/>
            </a:pPr>
            <a:r>
              <a:rPr lang="en-US" sz="1300" b="1" i="1" dirty="0">
                <a:solidFill>
                  <a:srgbClr val="2FA38A"/>
                </a:solidFill>
                <a:latin typeface="Calibri" pitchFamily="34" charset="0"/>
                <a:ea typeface="Calibri" pitchFamily="34" charset="-122"/>
                <a:cs typeface="Calibri" pitchFamily="34" charset="-120"/>
              </a:rPr>
              <a:t>Verbo intuido, más historia</a:t>
            </a:r>
            <a:endParaRPr lang="en-US" sz="1300" dirty="0"/>
          </a:p>
        </p:txBody>
      </p:sp>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C6B7A"/>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p:nvPr>
            <p:ph idx="100" type="title" hasCustomPrompt="1"/>
          </p:nvPr>
        </p:nvSpPr>
        <p:spPr>
          <a:xfrm>
            <a:off x="548640" y="365760"/>
            <a:ext cx="8046720" cy="822960"/>
          </a:xfrm>
          <a:prstGeom prst="rect">
            <a:avLst/>
          </a:prstGeom>
          <a:noFill/>
          <a:ln/>
        </p:spPr>
        <p:txBody>
          <a:bodyPr wrap="square" lIns="0" tIns="0" rIns="0" bIns="0" rtlCol="0" anchor="ctr"/>
          <a:lstStyle/>
          <a:p>
            <a:pPr algn="l" indent="0" marL="0">
              <a:buNone/>
            </a:pPr>
            <a:r>
              <a:rPr lang="en-US" sz="3200" b="1" dirty="0">
                <a:solidFill>
                  <a:srgbClr val="241638"/>
                </a:solidFill>
                <a:latin typeface="Cambria" pitchFamily="34" charset="0"/>
                <a:ea typeface="Cambria" pitchFamily="34" charset="-122"/>
                <a:cs typeface="Cambria" pitchFamily="34" charset="-120"/>
              </a:rPr>
              <a:t>El bucle y nuestras decisiones de diseño</a:t>
            </a:r>
            <a:endParaRPr lang="en-US" sz="3200" dirty="0"/>
          </a:p>
        </p:txBody>
      </p:sp>
      <p:sp>
        <p:nvSpPr>
          <p:cNvPr id="4" name="Encabezado bucle"/>
          <p:cNvSpPr txBox="1"/>
          <p:nvPr/>
        </p:nvSpPr>
        <p:spPr>
          <a:xfrm>
            <a:off x="548640" y="1371600"/>
            <a:ext cx="3840480" cy="365760"/>
          </a:xfrm>
          <a:prstGeom prst="rect">
            <a:avLst/>
          </a:prstGeom>
          <a:noFill/>
          <a:ln/>
        </p:spPr>
        <p:txBody>
          <a:bodyPr wrap="square" lIns="0" tIns="0" rIns="0" bIns="0" rtlCol="0" anchor="ctr"/>
          <a:lstStyle/>
          <a:p>
            <a:pPr indent="0" marL="0">
              <a:buNone/>
            </a:pPr>
            <a:r>
              <a:rPr lang="en-US" sz="2000" b="1" dirty="0">
                <a:solidFill>
                  <a:srgbClr val="7B4FB3"/>
                </a:solidFill>
                <a:latin typeface="Cambria" pitchFamily="34" charset="0"/>
                <a:ea typeface="Cambria" pitchFamily="34" charset="-122"/>
                <a:cs typeface="Cambria" pitchFamily="34" charset="-120"/>
              </a:rPr>
              <a:t>El bucle</a:t>
            </a:r>
            <a:endParaRPr lang="en-US" sz="2000" dirty="0"/>
          </a:p>
        </p:txBody>
      </p:sp>
      <p:sp>
        <p:nvSpPr>
          <p:cNvPr id="5" name="Paso Historia"/>
          <p:cNvSpPr/>
          <p:nvPr/>
        </p:nvSpPr>
        <p:spPr>
          <a:xfrm>
            <a:off x="548640" y="1828800"/>
            <a:ext cx="2743200" cy="512064"/>
          </a:xfrm>
          <a:prstGeom prst="roundRect">
            <a:avLst>
              <a:gd name="adj" fmla="val 17857"/>
            </a:avLst>
          </a:prstGeom>
          <a:solidFill>
            <a:srgbClr val="F3EEF9"/>
          </a:solidFill>
          <a:ln w="12700">
            <a:solidFill>
              <a:srgbClr val="F3EEF9"/>
            </a:solidFill>
            <a:prstDash val="solid"/>
          </a:ln>
        </p:spPr>
      </p:sp>
      <p:sp>
        <p:nvSpPr>
          <p:cNvPr id="6" name="Texto paso Historia"/>
          <p:cNvSpPr txBox="1"/>
          <p:nvPr/>
        </p:nvSpPr>
        <p:spPr>
          <a:xfrm>
            <a:off x="548640" y="1828800"/>
            <a:ext cx="2743200" cy="512064"/>
          </a:xfrm>
          <a:prstGeom prst="rect">
            <a:avLst/>
          </a:prstGeom>
          <a:noFill/>
          <a:ln/>
        </p:spPr>
        <p:txBody>
          <a:bodyPr wrap="square" lIns="0" tIns="0" rIns="0" bIns="0" rtlCol="0" anchor="ctr"/>
          <a:lstStyle/>
          <a:p>
            <a:pPr algn="ctr" indent="0" marL="0">
              <a:buNone/>
            </a:pPr>
            <a:r>
              <a:rPr lang="en-US" sz="1600" b="1" dirty="0">
                <a:solidFill>
                  <a:srgbClr val="241638"/>
                </a:solidFill>
                <a:latin typeface="Calibri" pitchFamily="34" charset="0"/>
                <a:ea typeface="Calibri" pitchFamily="34" charset="-122"/>
                <a:cs typeface="Calibri" pitchFamily="34" charset="-120"/>
              </a:rPr>
              <a:t>Historia</a:t>
            </a:r>
            <a:endParaRPr lang="en-US" sz="1600" dirty="0"/>
          </a:p>
        </p:txBody>
      </p:sp>
      <p:sp>
        <p:nvSpPr>
          <p:cNvPr id="7" name="Paso Misión"/>
          <p:cNvSpPr/>
          <p:nvPr/>
        </p:nvSpPr>
        <p:spPr>
          <a:xfrm>
            <a:off x="548640" y="2487168"/>
            <a:ext cx="2743200" cy="512064"/>
          </a:xfrm>
          <a:prstGeom prst="roundRect">
            <a:avLst>
              <a:gd name="adj" fmla="val 17857"/>
            </a:avLst>
          </a:prstGeom>
          <a:solidFill>
            <a:srgbClr val="F3EEF9"/>
          </a:solidFill>
          <a:ln w="12700">
            <a:solidFill>
              <a:srgbClr val="F3EEF9"/>
            </a:solidFill>
            <a:prstDash val="solid"/>
          </a:ln>
        </p:spPr>
      </p:sp>
      <p:sp>
        <p:nvSpPr>
          <p:cNvPr id="8" name="Texto paso Misión"/>
          <p:cNvSpPr txBox="1"/>
          <p:nvPr/>
        </p:nvSpPr>
        <p:spPr>
          <a:xfrm>
            <a:off x="548640" y="2487168"/>
            <a:ext cx="2743200" cy="512064"/>
          </a:xfrm>
          <a:prstGeom prst="rect">
            <a:avLst/>
          </a:prstGeom>
          <a:noFill/>
          <a:ln/>
        </p:spPr>
        <p:txBody>
          <a:bodyPr wrap="square" lIns="0" tIns="0" rIns="0" bIns="0" rtlCol="0" anchor="ctr"/>
          <a:lstStyle/>
          <a:p>
            <a:pPr algn="ctr" indent="0" marL="0">
              <a:buNone/>
            </a:pPr>
            <a:r>
              <a:rPr lang="en-US" sz="1600" b="1" dirty="0">
                <a:solidFill>
                  <a:srgbClr val="241638"/>
                </a:solidFill>
                <a:latin typeface="Calibri" pitchFamily="34" charset="0"/>
                <a:ea typeface="Calibri" pitchFamily="34" charset="-122"/>
                <a:cs typeface="Calibri" pitchFamily="34" charset="-120"/>
              </a:rPr>
              <a:t>Misión</a:t>
            </a:r>
            <a:endParaRPr lang="en-US" sz="1600" dirty="0"/>
          </a:p>
        </p:txBody>
      </p:sp>
      <p:sp>
        <p:nvSpPr>
          <p:cNvPr id="9" name="Paso Recompensa"/>
          <p:cNvSpPr/>
          <p:nvPr/>
        </p:nvSpPr>
        <p:spPr>
          <a:xfrm>
            <a:off x="548640" y="3145536"/>
            <a:ext cx="2743200" cy="512064"/>
          </a:xfrm>
          <a:prstGeom prst="roundRect">
            <a:avLst>
              <a:gd name="adj" fmla="val 17857"/>
            </a:avLst>
          </a:prstGeom>
          <a:solidFill>
            <a:srgbClr val="F3EEF9"/>
          </a:solidFill>
          <a:ln w="12700">
            <a:solidFill>
              <a:srgbClr val="F3EEF9"/>
            </a:solidFill>
            <a:prstDash val="solid"/>
          </a:ln>
        </p:spPr>
      </p:sp>
      <p:sp>
        <p:nvSpPr>
          <p:cNvPr id="10" name="Texto paso Recompensa"/>
          <p:cNvSpPr txBox="1"/>
          <p:nvPr/>
        </p:nvSpPr>
        <p:spPr>
          <a:xfrm>
            <a:off x="548640" y="3145536"/>
            <a:ext cx="2743200" cy="512064"/>
          </a:xfrm>
          <a:prstGeom prst="rect">
            <a:avLst/>
          </a:prstGeom>
          <a:noFill/>
          <a:ln/>
        </p:spPr>
        <p:txBody>
          <a:bodyPr wrap="square" lIns="0" tIns="0" rIns="0" bIns="0" rtlCol="0" anchor="ctr"/>
          <a:lstStyle/>
          <a:p>
            <a:pPr algn="ctr" indent="0" marL="0">
              <a:buNone/>
            </a:pPr>
            <a:r>
              <a:rPr lang="en-US" sz="1600" b="1" dirty="0">
                <a:solidFill>
                  <a:srgbClr val="241638"/>
                </a:solidFill>
                <a:latin typeface="Calibri" pitchFamily="34" charset="0"/>
                <a:ea typeface="Calibri" pitchFamily="34" charset="-122"/>
                <a:cs typeface="Calibri" pitchFamily="34" charset="-120"/>
              </a:rPr>
              <a:t>Recompensa</a:t>
            </a:r>
            <a:endParaRPr lang="en-US" sz="1600" dirty="0"/>
          </a:p>
        </p:txBody>
      </p:sp>
      <p:sp>
        <p:nvSpPr>
          <p:cNvPr id="11" name="Paso Más historia"/>
          <p:cNvSpPr/>
          <p:nvPr/>
        </p:nvSpPr>
        <p:spPr>
          <a:xfrm>
            <a:off x="548640" y="3803904"/>
            <a:ext cx="2743200" cy="512064"/>
          </a:xfrm>
          <a:prstGeom prst="roundRect">
            <a:avLst>
              <a:gd name="adj" fmla="val 17857"/>
            </a:avLst>
          </a:prstGeom>
          <a:solidFill>
            <a:srgbClr val="E8731A"/>
          </a:solidFill>
          <a:ln w="12700">
            <a:solidFill>
              <a:srgbClr val="E8731A"/>
            </a:solidFill>
            <a:prstDash val="solid"/>
          </a:ln>
        </p:spPr>
      </p:sp>
      <p:sp>
        <p:nvSpPr>
          <p:cNvPr id="12" name="Texto paso Más historia"/>
          <p:cNvSpPr txBox="1"/>
          <p:nvPr/>
        </p:nvSpPr>
        <p:spPr>
          <a:xfrm>
            <a:off x="548640" y="3803904"/>
            <a:ext cx="2743200"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Más historia</a:t>
            </a:r>
            <a:endParaRPr lang="en-US" sz="1600" dirty="0"/>
          </a:p>
        </p:txBody>
      </p:sp>
      <p:sp>
        <p:nvSpPr>
          <p:cNvPr id="13" name="Nota bucle"/>
          <p:cNvSpPr txBox="1"/>
          <p:nvPr/>
        </p:nvSpPr>
        <p:spPr>
          <a:xfrm>
            <a:off x="548640" y="4480560"/>
            <a:ext cx="3657600" cy="365760"/>
          </a:xfrm>
          <a:prstGeom prst="rect">
            <a:avLst/>
          </a:prstGeom>
          <a:noFill/>
          <a:ln/>
        </p:spPr>
        <p:txBody>
          <a:bodyPr wrap="square" lIns="0" tIns="0" rIns="0" bIns="0" rtlCol="0" anchor="ctr"/>
          <a:lstStyle/>
          <a:p>
            <a:pPr indent="0" marL="0">
              <a:buNone/>
            </a:pPr>
            <a:r>
              <a:rPr lang="en-US" sz="1100" i="1" dirty="0">
                <a:solidFill>
                  <a:srgbClr val="5C6B7A"/>
                </a:solidFill>
                <a:latin typeface="Calibri" pitchFamily="34" charset="0"/>
                <a:ea typeface="Calibri" pitchFamily="34" charset="-122"/>
                <a:cs typeface="Calibri" pitchFamily="34" charset="-120"/>
              </a:rPr>
              <a:t>Cada fragmento pide más misiones, y los objetos se repiten para fijar los sustantivos.</a:t>
            </a:r>
            <a:endParaRPr lang="en-US" sz="1100" dirty="0"/>
          </a:p>
        </p:txBody>
      </p:sp>
      <p:pic>
        <p:nvPicPr>
          <p:cNvPr id="14" name="Image 0" descr="Usamos">    </p:cNvPr>
          <p:cNvPicPr>
            <a:picLocks noChangeAspect="1"/>
          </p:cNvPicPr>
          <p:nvPr/>
        </p:nvPicPr>
        <p:blipFill>
          <a:blip r:embed="rId1"/>
          <a:stretch>
            <a:fillRect/>
          </a:stretch>
        </p:blipFill>
        <p:spPr>
          <a:xfrm>
            <a:off x="4754880" y="1389888"/>
            <a:ext cx="310896" cy="310896"/>
          </a:xfrm>
          <a:prstGeom prst="rect">
            <a:avLst/>
          </a:prstGeom>
        </p:spPr>
      </p:pic>
      <p:sp>
        <p:nvSpPr>
          <p:cNvPr id="15" name="Encabezado usamos"/>
          <p:cNvSpPr txBox="1"/>
          <p:nvPr/>
        </p:nvSpPr>
        <p:spPr>
          <a:xfrm>
            <a:off x="5166360" y="1371600"/>
            <a:ext cx="3383280" cy="365760"/>
          </a:xfrm>
          <a:prstGeom prst="rect">
            <a:avLst/>
          </a:prstGeom>
          <a:noFill/>
          <a:ln/>
        </p:spPr>
        <p:txBody>
          <a:bodyPr wrap="square" lIns="0" tIns="0" rIns="0" bIns="0" rtlCol="0" anchor="ctr"/>
          <a:lstStyle/>
          <a:p>
            <a:pPr indent="0" marL="0">
              <a:buNone/>
            </a:pPr>
            <a:r>
              <a:rPr lang="en-US" sz="1800" b="1" dirty="0">
                <a:solidFill>
                  <a:srgbClr val="2FA38A"/>
                </a:solidFill>
                <a:latin typeface="Cambria" pitchFamily="34" charset="0"/>
                <a:ea typeface="Cambria" pitchFamily="34" charset="-122"/>
                <a:cs typeface="Cambria" pitchFamily="34" charset="-120"/>
              </a:rPr>
              <a:t>Lo que usamos</a:t>
            </a:r>
            <a:endParaRPr lang="en-US" sz="1800" dirty="0"/>
          </a:p>
        </p:txBody>
      </p:sp>
      <p:sp>
        <p:nvSpPr>
          <p:cNvPr id="16" name="Lista usamos"/>
          <p:cNvSpPr txBox="1"/>
          <p:nvPr/>
        </p:nvSpPr>
        <p:spPr>
          <a:xfrm>
            <a:off x="4754880" y="1783080"/>
            <a:ext cx="3840480" cy="118872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3B2756"/>
                </a:solidFill>
                <a:latin typeface="Calibri" pitchFamily="34" charset="0"/>
                <a:ea typeface="Calibri" pitchFamily="34" charset="-122"/>
                <a:cs typeface="Calibri" pitchFamily="34" charset="-120"/>
              </a:rPr>
              <a:t>Metas cercanas y visibles</a:t>
            </a:r>
            <a:endParaRPr lang="en-US" sz="1400" dirty="0"/>
          </a:p>
          <a:p>
            <a:pPr marL="342900" indent="-342900">
              <a:spcAft>
                <a:spcPts val="400"/>
              </a:spcAft>
              <a:buSzPct val="100000"/>
              <a:buChar char="•"/>
            </a:pPr>
            <a:r>
              <a:rPr lang="en-US" sz="1400" dirty="0">
                <a:solidFill>
                  <a:srgbClr val="3B2756"/>
                </a:solidFill>
                <a:latin typeface="Calibri" pitchFamily="34" charset="0"/>
                <a:ea typeface="Calibri" pitchFamily="34" charset="-122"/>
                <a:cs typeface="Calibri" pitchFamily="34" charset="-120"/>
              </a:rPr>
              <a:t>Feedback inmediato</a:t>
            </a:r>
            <a:endParaRPr lang="en-US" sz="1400" dirty="0"/>
          </a:p>
          <a:p>
            <a:pPr marL="342900" indent="-342900">
              <a:spcAft>
                <a:spcPts val="400"/>
              </a:spcAft>
              <a:buSzPct val="100000"/>
              <a:buChar char="•"/>
            </a:pPr>
            <a:r>
              <a:rPr lang="en-US" sz="1400" dirty="0">
                <a:solidFill>
                  <a:srgbClr val="3B2756"/>
                </a:solidFill>
                <a:latin typeface="Calibri" pitchFamily="34" charset="0"/>
                <a:ea typeface="Calibri" pitchFamily="34" charset="-122"/>
                <a:cs typeface="Calibri" pitchFamily="34" charset="-120"/>
              </a:rPr>
              <a:t>Narrativa e inmersión</a:t>
            </a:r>
            <a:endParaRPr lang="en-US" sz="1400" dirty="0"/>
          </a:p>
          <a:p>
            <a:pPr marL="342900" indent="-342900">
              <a:spcAft>
                <a:spcPts val="400"/>
              </a:spcAft>
              <a:buSzPct val="100000"/>
              <a:buChar char="•"/>
            </a:pPr>
            <a:r>
              <a:rPr lang="en-US" sz="1400" dirty="0">
                <a:solidFill>
                  <a:srgbClr val="3B2756"/>
                </a:solidFill>
                <a:latin typeface="Calibri" pitchFamily="34" charset="0"/>
                <a:ea typeface="Calibri" pitchFamily="34" charset="-122"/>
                <a:cs typeface="Calibri" pitchFamily="34" charset="-120"/>
              </a:rPr>
              <a:t>Coleccionismo con sentido</a:t>
            </a:r>
            <a:endParaRPr lang="en-US" sz="1400" dirty="0"/>
          </a:p>
        </p:txBody>
      </p:sp>
      <p:pic>
        <p:nvPicPr>
          <p:cNvPr id="17" name="Image 1" descr="Dejamos fuera">    </p:cNvPr>
          <p:cNvPicPr>
            <a:picLocks noChangeAspect="1"/>
          </p:cNvPicPr>
          <p:nvPr/>
        </p:nvPicPr>
        <p:blipFill>
          <a:blip r:embed="rId2"/>
          <a:stretch>
            <a:fillRect/>
          </a:stretch>
        </p:blipFill>
        <p:spPr>
          <a:xfrm>
            <a:off x="4754880" y="3127248"/>
            <a:ext cx="310896" cy="310896"/>
          </a:xfrm>
          <a:prstGeom prst="rect">
            <a:avLst/>
          </a:prstGeom>
        </p:spPr>
      </p:pic>
      <p:sp>
        <p:nvSpPr>
          <p:cNvPr id="18" name="Encabezado fuera"/>
          <p:cNvSpPr txBox="1"/>
          <p:nvPr/>
        </p:nvSpPr>
        <p:spPr>
          <a:xfrm>
            <a:off x="5166360" y="3108960"/>
            <a:ext cx="3383280" cy="365760"/>
          </a:xfrm>
          <a:prstGeom prst="rect">
            <a:avLst/>
          </a:prstGeom>
          <a:noFill/>
          <a:ln/>
        </p:spPr>
        <p:txBody>
          <a:bodyPr wrap="square" lIns="0" tIns="0" rIns="0" bIns="0" rtlCol="0" anchor="ctr"/>
          <a:lstStyle/>
          <a:p>
            <a:pPr indent="0" marL="0">
              <a:buNone/>
            </a:pPr>
            <a:r>
              <a:rPr lang="en-US" sz="1800" b="1" dirty="0">
                <a:solidFill>
                  <a:srgbClr val="C0392B"/>
                </a:solidFill>
                <a:latin typeface="Cambria" pitchFamily="34" charset="0"/>
                <a:ea typeface="Cambria" pitchFamily="34" charset="-122"/>
                <a:cs typeface="Cambria" pitchFamily="34" charset="-120"/>
              </a:rPr>
              <a:t>Lo que dejamos fuera</a:t>
            </a:r>
            <a:endParaRPr lang="en-US" sz="1800" dirty="0"/>
          </a:p>
        </p:txBody>
      </p:sp>
      <p:sp>
        <p:nvSpPr>
          <p:cNvPr id="19" name="Lista fuera"/>
          <p:cNvSpPr txBox="1"/>
          <p:nvPr/>
        </p:nvSpPr>
        <p:spPr>
          <a:xfrm>
            <a:off x="4754880" y="3520440"/>
            <a:ext cx="3840480" cy="10058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3B2756"/>
                </a:solidFill>
                <a:latin typeface="Calibri" pitchFamily="34" charset="0"/>
                <a:ea typeface="Calibri" pitchFamily="34" charset="-122"/>
                <a:cs typeface="Calibri" pitchFamily="34" charset="-120"/>
              </a:rPr>
              <a:t>Azar tipo loot box</a:t>
            </a:r>
            <a:endParaRPr lang="en-US" sz="1400" dirty="0"/>
          </a:p>
          <a:p>
            <a:pPr marL="342900" indent="-342900">
              <a:spcAft>
                <a:spcPts val="400"/>
              </a:spcAft>
              <a:buSzPct val="100000"/>
              <a:buChar char="•"/>
            </a:pPr>
            <a:r>
              <a:rPr lang="en-US" sz="1400" dirty="0">
                <a:solidFill>
                  <a:srgbClr val="3B2756"/>
                </a:solidFill>
                <a:latin typeface="Calibri" pitchFamily="34" charset="0"/>
                <a:ea typeface="Calibri" pitchFamily="34" charset="-122"/>
                <a:cs typeface="Calibri" pitchFamily="34" charset="-120"/>
              </a:rPr>
              <a:t>Rachas y castigos</a:t>
            </a:r>
            <a:endParaRPr lang="en-US" sz="1400" dirty="0"/>
          </a:p>
          <a:p>
            <a:pPr marL="342900" indent="-342900">
              <a:spcAft>
                <a:spcPts val="400"/>
              </a:spcAft>
              <a:buSzPct val="100000"/>
              <a:buChar char="•"/>
            </a:pPr>
            <a:r>
              <a:rPr lang="en-US" sz="1400" dirty="0">
                <a:solidFill>
                  <a:srgbClr val="3B2756"/>
                </a:solidFill>
                <a:latin typeface="Calibri" pitchFamily="34" charset="0"/>
                <a:ea typeface="Calibri" pitchFamily="34" charset="-122"/>
                <a:cs typeface="Calibri" pitchFamily="34" charset="-120"/>
              </a:rPr>
              <a:t>Escasez y avisos de retención</a:t>
            </a:r>
            <a:endParaRPr lang="en-US" sz="1400" dirty="0"/>
          </a:p>
        </p:txBody>
      </p:sp>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5C6B7A"/>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ulo"/>
          <p:cNvSpPr txBox="1"/>
          <p:nvPr/>
        </p:nvSpPr>
        <p:spPr>
          <a:xfrm>
            <a:off x="548640" y="640080"/>
            <a:ext cx="8046720" cy="82296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Ahora les toca</a:t>
            </a:r>
            <a:endParaRPr lang="en-US" sz="4400" dirty="0"/>
          </a:p>
        </p:txBody>
      </p:sp>
      <p:sp>
        <p:nvSpPr>
          <p:cNvPr id="4" name="Tiempo 1"/>
          <p:cNvSpPr/>
          <p:nvPr/>
        </p:nvSpPr>
        <p:spPr>
          <a:xfrm>
            <a:off x="548640" y="1828800"/>
            <a:ext cx="1463040" cy="640080"/>
          </a:xfrm>
          <a:prstGeom prst="roundRect">
            <a:avLst>
              <a:gd name="adj" fmla="val 14286"/>
            </a:avLst>
          </a:prstGeom>
          <a:solidFill>
            <a:srgbClr val="E8731A"/>
          </a:solidFill>
          <a:ln w="12700">
            <a:solidFill>
              <a:srgbClr val="E8731A"/>
            </a:solidFill>
            <a:prstDash val="solid"/>
          </a:ln>
        </p:spPr>
      </p:sp>
      <p:sp>
        <p:nvSpPr>
          <p:cNvPr id="5" name="Texto tiempo 1"/>
          <p:cNvSpPr txBox="1"/>
          <p:nvPr/>
        </p:nvSpPr>
        <p:spPr>
          <a:xfrm>
            <a:off x="548640" y="1828800"/>
            <a:ext cx="146304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7 min</a:t>
            </a:r>
            <a:endParaRPr lang="en-US" sz="2000" dirty="0"/>
          </a:p>
        </p:txBody>
      </p:sp>
      <p:sp>
        <p:nvSpPr>
          <p:cNvPr id="6" name="Actividad 1"/>
          <p:cNvSpPr txBox="1"/>
          <p:nvPr/>
        </p:nvSpPr>
        <p:spPr>
          <a:xfrm>
            <a:off x="2286000" y="1828800"/>
            <a:ext cx="6217920" cy="64008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Tutorial en el proyector</a:t>
            </a:r>
            <a:endParaRPr lang="en-US" sz="2000" dirty="0"/>
          </a:p>
        </p:txBody>
      </p:sp>
      <p:sp>
        <p:nvSpPr>
          <p:cNvPr id="7" name="Tiempo 2"/>
          <p:cNvSpPr/>
          <p:nvPr/>
        </p:nvSpPr>
        <p:spPr>
          <a:xfrm>
            <a:off x="548640" y="2697480"/>
            <a:ext cx="1463040" cy="640080"/>
          </a:xfrm>
          <a:prstGeom prst="roundRect">
            <a:avLst>
              <a:gd name="adj" fmla="val 14286"/>
            </a:avLst>
          </a:prstGeom>
          <a:solidFill>
            <a:srgbClr val="E8731A"/>
          </a:solidFill>
          <a:ln w="12700">
            <a:solidFill>
              <a:srgbClr val="E8731A"/>
            </a:solidFill>
            <a:prstDash val="solid"/>
          </a:ln>
        </p:spPr>
      </p:sp>
      <p:sp>
        <p:nvSpPr>
          <p:cNvPr id="8" name="Texto tiempo 2"/>
          <p:cNvSpPr txBox="1"/>
          <p:nvPr/>
        </p:nvSpPr>
        <p:spPr>
          <a:xfrm>
            <a:off x="548640" y="2697480"/>
            <a:ext cx="146304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30 min</a:t>
            </a:r>
            <a:endParaRPr lang="en-US" sz="2000" dirty="0"/>
          </a:p>
        </p:txBody>
      </p:sp>
      <p:sp>
        <p:nvSpPr>
          <p:cNvPr id="9" name="Actividad 2"/>
          <p:cNvSpPr txBox="1"/>
          <p:nvPr/>
        </p:nvSpPr>
        <p:spPr>
          <a:xfrm>
            <a:off x="2286000" y="2697480"/>
            <a:ext cx="6217920" cy="64008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Juegan en la sala: busquen las imágenes</a:t>
            </a:r>
            <a:endParaRPr lang="en-US" sz="2000" dirty="0"/>
          </a:p>
        </p:txBody>
      </p:sp>
      <p:sp>
        <p:nvSpPr>
          <p:cNvPr id="10" name="Tiempo 3"/>
          <p:cNvSpPr/>
          <p:nvPr/>
        </p:nvSpPr>
        <p:spPr>
          <a:xfrm>
            <a:off x="548640" y="3566160"/>
            <a:ext cx="1463040" cy="640080"/>
          </a:xfrm>
          <a:prstGeom prst="roundRect">
            <a:avLst>
              <a:gd name="adj" fmla="val 14286"/>
            </a:avLst>
          </a:prstGeom>
          <a:solidFill>
            <a:srgbClr val="E8731A"/>
          </a:solidFill>
          <a:ln w="12700">
            <a:solidFill>
              <a:srgbClr val="E8731A"/>
            </a:solidFill>
            <a:prstDash val="solid"/>
          </a:ln>
        </p:spPr>
      </p:sp>
      <p:sp>
        <p:nvSpPr>
          <p:cNvPr id="11" name="Texto tiempo 3"/>
          <p:cNvSpPr txBox="1"/>
          <p:nvPr/>
        </p:nvSpPr>
        <p:spPr>
          <a:xfrm>
            <a:off x="548640" y="3566160"/>
            <a:ext cx="146304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8 min</a:t>
            </a:r>
            <a:endParaRPr lang="en-US" sz="2000" dirty="0"/>
          </a:p>
        </p:txBody>
      </p:sp>
      <p:sp>
        <p:nvSpPr>
          <p:cNvPr id="12" name="Actividad 3"/>
          <p:cNvSpPr txBox="1"/>
          <p:nvPr/>
        </p:nvSpPr>
        <p:spPr>
          <a:xfrm>
            <a:off x="2286000" y="3566160"/>
            <a:ext cx="6217920" cy="64008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Reflexión y encuesta</a:t>
            </a:r>
            <a:endParaRPr lang="en-US" sz="2000" dirty="0"/>
          </a:p>
        </p:txBody>
      </p:sp>
      <p:sp>
        <p:nvSpPr>
          <p:cNvPr id="25" name="Slide Number Placeholder 0"/>
          <p:cNvSpPr>
            <a:spLocks noGrp="1"/>
          </p:cNvSpPr>
          <p:nvPr>
            <p:ph type="sldNum" sz="quarter" idx="4294967295"/>
          </p:nvPr>
        </p:nvSpPr>
        <p:spPr>
          <a:xfrm>
            <a:off x="8412480" y="475488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FFFFFF"/>
                </a:solidFill>
              </a:defRPr>
            </a:lvl1pPr>
          </a:lstStyle>
          <a:p>
            <a:pPr algn="l"/>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Tremblay Chronicles">
  <a:themeElements>
    <a:clrScheme name="Tremblay Chronicles">
      <a:dk1>
        <a:srgbClr val="241638"/>
      </a:dk1>
      <a:lt1>
        <a:srgbClr val="FFFFFF"/>
      </a:lt1>
      <a:dk2>
        <a:srgbClr val="3B2756"/>
      </a:dk2>
      <a:lt2>
        <a:srgbClr val="F3EEF9"/>
      </a:lt2>
      <a:accent1>
        <a:srgbClr val="E8731A"/>
      </a:accent1>
      <a:accent2>
        <a:srgbClr val="7B4FB3"/>
      </a:accent2>
      <a:accent3>
        <a:srgbClr val="2FA38A"/>
      </a:accent3>
      <a:accent4>
        <a:srgbClr val="F4B942"/>
      </a:accent4>
      <a:accent5>
        <a:srgbClr val="C0392B"/>
      </a:accent5>
      <a:accent6>
        <a:srgbClr val="5C6B7A"/>
      </a:accent6>
      <a:hlink>
        <a:srgbClr val="7B4FB3"/>
      </a:hlink>
      <a:folHlink>
        <a:srgbClr val="5C6B7A"/>
      </a:folHlink>
    </a:clrScheme>
    <a:fontScheme name="Tremblay Chronicle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Tremblay Chronicles: aprender como consecuencia del juego</dc:title>
  <dc:subject>PptxGenJS Presentation</dc:subject>
  <dc:creator>Hispanic Open Learning Academy Inc.</dc:creator>
  <cp:lastModifiedBy>Hispanic Open Learning Academy Inc.</cp:lastModifiedBy>
  <cp:revision>1</cp:revision>
  <dcterms:created xsi:type="dcterms:W3CDTF">2026-10-07T00:33:13Z</dcterms:created>
  <dcterms:modified xsi:type="dcterms:W3CDTF">2026-10-07T00:33:13Z</dcterms:modified>
</cp:coreProperties>
</file>